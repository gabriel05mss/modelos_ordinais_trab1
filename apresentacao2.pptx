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Trabalho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Análise Descritiva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Distribuição das categorias de desempenho</a:t>
            </a:r>
          </a:p>
        </p:txBody>
      </p:sp>
      <p:pic>
        <p:nvPicPr>
          <p:cNvPr descr="apresentacao2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37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Categorias de nota por escola</a:t>
            </a:r>
          </a:p>
        </p:txBody>
      </p:sp>
      <p:pic>
        <p:nvPicPr>
          <p:cNvPr descr="apresentacao2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37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Categorias de nota por gênero</a:t>
            </a:r>
          </a:p>
        </p:txBody>
      </p:sp>
      <p:pic>
        <p:nvPicPr>
          <p:cNvPr descr="apresentacao2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37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Idade por categoria de nota</a:t>
            </a:r>
          </a:p>
        </p:txBody>
      </p:sp>
      <p:pic>
        <p:nvPicPr>
          <p:cNvPr descr="apresentacao2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37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Categorias de nota por tempo de estudo</a:t>
            </a:r>
          </a:p>
        </p:txBody>
      </p:sp>
      <p:pic>
        <p:nvPicPr>
          <p:cNvPr descr="apresentacao2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37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Faltas por categoria de nota</a:t>
            </a:r>
          </a:p>
        </p:txBody>
      </p:sp>
      <p:pic>
        <p:nvPicPr>
          <p:cNvPr descr="apresentacao2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37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Categorias de nota por tempo de deslocamento</a:t>
            </a:r>
          </a:p>
        </p:txBody>
      </p:sp>
      <p:pic>
        <p:nvPicPr>
          <p:cNvPr descr="apresentacao2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37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Categorias de nota por status parental</a:t>
            </a:r>
          </a:p>
        </p:txBody>
      </p:sp>
      <p:pic>
        <p:nvPicPr>
          <p:cNvPr descr="apresentacao2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37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Categorias de nota por relação familiar</a:t>
            </a:r>
          </a:p>
        </p:txBody>
      </p:sp>
      <p:pic>
        <p:nvPicPr>
          <p:cNvPr descr="apresentacao2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37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Modelagem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Modelo ordinal inicial (odds proporcionais)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515595426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262616"/>
                <a:gridCol w="532670"/>
                <a:gridCol w="882193"/>
                <a:gridCol w="742015"/>
              </a:tblGrid>
              <a:tr h="2971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Características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95% IC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Valor-p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sex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2.02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1.36, 3.00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&lt;0.001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age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0.70, 0.94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0.005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studytime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&lt;2h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2-4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0.67, 1.68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5-10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1.32, 4.53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0.005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&gt;10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1.87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0.82, 4.29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08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absences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0.98, 1.02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&gt;0.9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4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Abreviações: IC = Intervalo de Confiança, OR = Razão de chances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682935562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672673"/>
                <a:gridCol w="532670"/>
                <a:gridCol w="882193"/>
                <a:gridCol w="742015"/>
              </a:tblGrid>
              <a:tr h="2971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Características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95% IC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Valor-p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traveltime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&lt;15 min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15-30 min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0.77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0.51, 1.17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30-60 min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0.37, 1.88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&gt;60 min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0.07, 0.89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0.032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Pstatus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Morando Juntos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Morando separados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1.19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0.65, 2.20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famrel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Muito ruim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Ruim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0.67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0.15, 3.03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Regular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0.15, 2.05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Bom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0.17, 2.09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083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Muito bom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0.21, 2.60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4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Abreviações: IC = Intervalo de Confiança, OR = Razão de chances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Modelo ordinal — seleção Stepwise (AIC)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52195598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444769"/>
                <a:gridCol w="582106"/>
                <a:gridCol w="995178"/>
                <a:gridCol w="829514"/>
              </a:tblGrid>
              <a:tr h="3276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Características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95% IC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Valor-p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sex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1.33, 2.90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&lt;0.001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age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0.69, 0.92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studytime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&lt;2h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2-4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0.71, 1.75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5-10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1.38, 4.64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0.003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&gt;10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0.85, 4.31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4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Abreviações: IC = Intervalo de Confiança, OR = Razão de chances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Teste de odds proporcionais (nominal_test)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743688015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976395"/>
                <a:gridCol w="673926"/>
                <a:gridCol w="444415"/>
                <a:gridCol w="770342"/>
              </a:tblGrid>
              <a:tr h="33401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Variável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LRT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p-valor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sex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0.966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age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studytime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7.66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0.569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absences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22.02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&lt;0.001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traveltime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3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Pstatus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0.614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famrel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12.17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0.432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Modelo de odds proporcionais parciais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20446368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813919"/>
                <a:gridCol w="620875"/>
                <a:gridCol w="578583"/>
                <a:gridCol w="1086831"/>
                <a:gridCol w="649215"/>
              </a:tblGrid>
              <a:tr h="2882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Termo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β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IC 95%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p-valor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 gridSpan="5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Odds proporcionais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sexM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0.673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1.960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(1.316 ; 2.918)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0.0009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age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-0.198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0.820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(0.705 ; 0.954)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0.0103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studytime2-4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0.041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1.041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(0.656 ; 1.653)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0.8633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studytime5-10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0.886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2.425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(1.303 ; 4.511)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0.0052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studytime&gt;10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0.622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1.862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(0.817 ; 4.244)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0.1392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traveltime15-30 min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-0.274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0.760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(0.498 ; 1.160)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0.2036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traveltime30-60 min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-0.174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0.840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(0.374 ; 1.885)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0.6726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traveltime&gt;60 min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-1.332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0.264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(0.077 ; 0.903)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0.0338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PstatusMorando separados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0.192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1.212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(0.643 ; 2.285)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0.5518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famrelRuim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-0.457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0.633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(0.138 ; 2.909)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0.5567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famrelRegular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-0.697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0.498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(0.135 ; 1.841)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0.2961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famrelBom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-0.642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0.526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(0.150 ; 1.846)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0.3160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famrelMuito bom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-0.437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0.646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(0.180 ; 2.317)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0.5024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39954657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091234"/>
                <a:gridCol w="620875"/>
                <a:gridCol w="578583"/>
                <a:gridCol w="1157463"/>
                <a:gridCol w="649215"/>
              </a:tblGrid>
              <a:tr h="2882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Termo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β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IC 95%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p-valor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 gridSpan="5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Odds não proporcionais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E|D.(Intercept)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-4.797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(0.001 ; 0.133)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0.0007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D|C.(Intercept)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-3.221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0.040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(0.003 ; 0.622)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0.0215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C|B.(Intercept)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-2.194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0.112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(0.007 ; 1.724)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0.1164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B|A.(Intercept)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-0.132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0.876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(0.054 ; 14.247)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0.9262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E|D.absences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-0.057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0.945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(0.900 ; 0.993)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0.0245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D|C.absences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0.028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1.028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(0.993 ; 1.064)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0.1157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C|B.absences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0.068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1.070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(1.011 ; 1.133)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0.0195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B|A.absences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-0.028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0.972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(0.891 ; 1.061)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0.5265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Odds proporcionais parciais — seleção Stepwise (AIC)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761240307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257326"/>
                <a:gridCol w="692896"/>
                <a:gridCol w="642145"/>
                <a:gridCol w="1336801"/>
                <a:gridCol w="726903"/>
              </a:tblGrid>
              <a:tr h="31877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Termo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β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IC 95%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p-valor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 gridSpan="5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Odds não proporcionais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2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2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2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2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E|D.(Intercept)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-4.298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0.014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(0.001 ; 0.169)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0.0008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D|C.(Intercept)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-2.743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0.064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(0.005 ; 0.773)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0.0305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C|B.(Intercept)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-1.730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0.177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(0.015 ; 2.115)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0.1714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B|A.(Intercept)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0.311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1.365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(0.109 ; 17.165)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0.8096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E|D.absences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-0.058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0.943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(0.898 ; 0.991)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0.0201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D|C.absences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0.025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1.025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(0.992 ; 1.060)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0.1411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C|B.absences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0.064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1.066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(1.008 ; 1.127)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0.0242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B|A.absences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-0.030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0.970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(0.890 ; 1.057)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0.4915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 gridSpan="5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Odds proporcionais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2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2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2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2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sexM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0.646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1.907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(1.287 ; 2.827)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0.0013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age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-0.212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0.809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(0.697 ; 0.940)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0.0055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studytime2-4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0.088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1.092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(0.693 ; 1.720)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0.7040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studytime5-10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0.918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2.505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(1.361 ; 4.611)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0.0032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studytime&gt;10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0.653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1.921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(0.857 ; 4.307)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0.1129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Modelo binário (logístico)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424260100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262616"/>
                <a:gridCol w="532670"/>
                <a:gridCol w="882193"/>
                <a:gridCol w="742015"/>
              </a:tblGrid>
              <a:tr h="2971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Características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95% IC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Valor-p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sex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1.21, 3.03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age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0.68, 0.96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0.015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studytime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&lt;2h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2-4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0.54, 1.56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5-10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2.06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1.01, 4.25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0.047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&gt;10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1.72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0.69, 4.36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08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absences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0.98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0.94, 1.01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0.15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4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Abreviações: IC = Intervalo de Confiança, OR = Razão de chances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424021170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672673"/>
                <a:gridCol w="532670"/>
                <a:gridCol w="882193"/>
                <a:gridCol w="742015"/>
              </a:tblGrid>
              <a:tr h="2971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Características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95% IC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Valor-p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traveltime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&lt;15 min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15-30 min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0.46, 1.23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30-60 min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0.79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0.30, 1.96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&gt;60 min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0.09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0.00, 0.62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0.042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Pstatus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Morando Juntos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Morando separados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0.54, 2.27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famrel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Muito ruim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Ruim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0.05, 2.11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Regular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0.25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0.04, 1.20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0.089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Bom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0.25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0.05, 1.16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0.083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083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Muito bom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0.06, 1.64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4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Abreviações: IC = Intervalo de Confiança, OR = Razão de chances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Modelo binário — seleção Stepwise (AIC)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749340121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262616"/>
                <a:gridCol w="532670"/>
                <a:gridCol w="882193"/>
                <a:gridCol w="742015"/>
              </a:tblGrid>
              <a:tr h="2971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Características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95% IC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Valor-p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sex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1.89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1.21, 2.99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0.006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age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0.81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0.68, 0.96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0.015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studytime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&lt;2h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2-4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0.54, 1.54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5-10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1.99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0.99, 4.04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0.054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&gt;10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1.77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0.71, 4.44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absences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0.98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0.94, 1.01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traveltime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&lt;15 min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—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15-30 min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0.74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0.45, 1.20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30-60 min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0.79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0.30, 1.96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083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&gt;60 min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0.13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0.01, 0.77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0.061</a:t>
                      </a:r>
                    </a:p>
                  </a:txBody>
                  <a:tcPr anchor="t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4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Abreviações: IC = Intervalo de Confiança, OR = Razão de chances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Comparação dos modelos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179667461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841961"/>
                <a:gridCol w="1150641"/>
                <a:gridCol w="1150641"/>
                <a:gridCol w="1061568"/>
              </a:tblGrid>
              <a:tr h="3492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Modelo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AIC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BIC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LogLik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Ordinal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1,125.01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1,196.63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-544.50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Ordinal Step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1,114.53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1,150.34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-548.26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Ordinal Parcial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1,108.99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1,192.55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-533.50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Ordinal Parcial Step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1,100.78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1,152.50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-537.39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Binário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529.42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589.10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-249.71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Binário Step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524.42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564.20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-252.21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</dc:title>
  <dc:creator/>
  <cp:keywords/>
  <dcterms:created xsi:type="dcterms:W3CDTF">2026-09-30T00:28:27Z</dcterms:created>
  <dcterms:modified xsi:type="dcterms:W3CDTF">2026-09-30T00:28:27Z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engines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